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472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73642"/>
                </a:solidFill>
                <a:latin typeface="Outfit"/>
              </a:defRPr>
            </a:pPr>
            <a:r>
              <a:t>Key Data Sources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132320" cy="513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68BD2"/>
                </a:solidFill>
                <a:latin typeface="Outfit"/>
              </a:defRPr>
            </a:pPr>
            <a:r>
              <a:rPr sz="2000" dirty="0"/>
              <a:t>Brent Crude Spot Prices &amp; Historical Volatility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U.S. Energy Information Administration (EIA) Spot Prices (eia.gov)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St. Louis Fed (FRED) Economic Database - Series DCOILBRENTEU (fred.stlouisfed.org)</a:t>
            </a:r>
          </a:p>
          <a:p>
            <a:pPr>
              <a:spcAft>
                <a:spcPts val="400"/>
              </a:spcAft>
              <a:defRPr sz="1800" b="1">
                <a:solidFill>
                  <a:srgbClr val="268BD2"/>
                </a:solidFill>
                <a:latin typeface="Outfit"/>
              </a:defRPr>
            </a:pPr>
            <a:r>
              <a:rPr sz="2000" dirty="0"/>
              <a:t>Indian Crude Sourcing &amp; Import Statistics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Ministry of Petroleum &amp; Natural Gas, India - PPAC (ppac.gov.in)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Ministry of Commerce &amp; Industry, India - Import Export Data Bank (commerce.gov.in)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Shipment Tracking: </a:t>
            </a:r>
            <a:r>
              <a:rPr sz="2000" dirty="0" err="1"/>
              <a:t>Vortexa</a:t>
            </a:r>
            <a:r>
              <a:rPr sz="2000" dirty="0"/>
              <a:t> Analytics &amp; </a:t>
            </a:r>
            <a:r>
              <a:rPr sz="2000" dirty="0" err="1"/>
              <a:t>Kpler</a:t>
            </a:r>
            <a:r>
              <a:rPr sz="2000" dirty="0"/>
              <a:t> Tanker Flow Databases</a:t>
            </a:r>
          </a:p>
          <a:p>
            <a:pPr>
              <a:spcAft>
                <a:spcPts val="400"/>
              </a:spcAft>
              <a:defRPr sz="1800" b="1">
                <a:solidFill>
                  <a:srgbClr val="268BD2"/>
                </a:solidFill>
                <a:latin typeface="Outfit"/>
              </a:defRPr>
            </a:pPr>
            <a:r>
              <a:rPr sz="2000" dirty="0"/>
              <a:t>Maritime Chokepoints &amp; Logistics Economics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EIA World Oil Transit Chokepoints Brief (Strait of Hormuz &amp; Bab al-Mandab)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UNCTAD Reports on Red Sea Navigation Disruptions (2024–2026)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Freight Rate &amp; Insurance Indices: </a:t>
            </a:r>
            <a:r>
              <a:rPr sz="2000" dirty="0" err="1"/>
              <a:t>Clarksons</a:t>
            </a:r>
            <a:r>
              <a:rPr sz="2000" dirty="0"/>
              <a:t> Research &amp; Drewry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645920"/>
            <a:ext cx="71323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68BD2"/>
                </a:solidFill>
                <a:latin typeface="Outfit"/>
              </a:defRPr>
            </a:pPr>
            <a:r>
              <a:rPr sz="2000" dirty="0"/>
              <a:t>Sanctions &amp; Price Cap Compliance Frameworks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G7 Price Cap Coalition Compliance Advisories (OFAC &amp; EU DG FISMA)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International Energy Agency (IEA) Monthly Oil Market Reports</a:t>
            </a:r>
          </a:p>
          <a:p>
            <a:pPr>
              <a:spcAft>
                <a:spcPts val="400"/>
              </a:spcAft>
              <a:defRPr sz="1800" b="1">
                <a:solidFill>
                  <a:srgbClr val="268BD2"/>
                </a:solidFill>
                <a:latin typeface="Outfit"/>
              </a:defRPr>
            </a:pPr>
            <a:r>
              <a:rPr sz="2000" dirty="0"/>
              <a:t>Aviation Industry Transmission &amp; Hedging Strategy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IATA Jet Fuel Price Monitor &amp; Refined Kerosene Crack Spreads (iata.org)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Corporate Disclosures: </a:t>
            </a:r>
            <a:r>
              <a:rPr sz="2000" dirty="0" err="1"/>
              <a:t>InterGlobe</a:t>
            </a:r>
            <a:r>
              <a:rPr sz="2000" dirty="0"/>
              <a:t> Aviation (IndiGo) &amp; Delta Air Lines Annual 10-K Filings</a:t>
            </a:r>
          </a:p>
          <a:p>
            <a:pPr>
              <a:spcAft>
                <a:spcPts val="400"/>
              </a:spcAft>
              <a:defRPr sz="1800" b="1">
                <a:solidFill>
                  <a:srgbClr val="268BD2"/>
                </a:solidFill>
                <a:latin typeface="Outfit"/>
              </a:defRPr>
            </a:pPr>
            <a:r>
              <a:rPr sz="2000" dirty="0"/>
              <a:t>Playbook Code &amp; Data Repository</a:t>
            </a:r>
          </a:p>
          <a:p>
            <a:pPr>
              <a:spcAft>
                <a:spcPts val="300"/>
              </a:spcAft>
              <a:defRPr sz="1300">
                <a:solidFill>
                  <a:srgbClr val="586E75"/>
                </a:solidFill>
                <a:latin typeface="Outfit"/>
              </a:defRPr>
            </a:pPr>
            <a:r>
              <a:rPr sz="2000" dirty="0"/>
              <a:t>• GitHub Repository: github.com/</a:t>
            </a:r>
            <a:r>
              <a:rPr sz="2000" dirty="0" err="1"/>
              <a:t>jozee</a:t>
            </a:r>
            <a:r>
              <a:rPr sz="2000" dirty="0"/>
              <a:t>-io/oil-geopolitics-2022-2026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</Words>
  <Application>Microsoft Office PowerPoint</Application>
  <PresentationFormat>Custom</PresentationFormat>
  <Paragraphs>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Joseph Biju</cp:lastModifiedBy>
  <cp:revision>2</cp:revision>
  <cp:lastPrinted>2026-06-06T17:40:54Z</cp:lastPrinted>
  <dcterms:created xsi:type="dcterms:W3CDTF">2006-08-16T00:00:00Z</dcterms:created>
  <dcterms:modified xsi:type="dcterms:W3CDTF">2026-06-06T17:41:39Z</dcterms:modified>
</cp:coreProperties>
</file>